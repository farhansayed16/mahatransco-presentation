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581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1641" y="1731819"/>
            <a:ext cx="9537538" cy="2155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6000" b="1" dirty="0">
                <a:latin typeface="Poppins"/>
              </a:rPr>
              <a:t>AI as a Digital Assistant</a:t>
            </a:r>
            <a:r>
              <a:rPr lang="en-US" sz="6000" dirty="0"/>
              <a:t>
</a:t>
            </a:r>
            <a:r>
              <a:rPr lang="en-US" sz="6000" b="1" dirty="0">
                <a:latin typeface="Poppins"/>
              </a:rPr>
              <a:t> for </a:t>
            </a:r>
            <a:r>
              <a:rPr lang="en-US" sz="6000" b="1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Administrative Officer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208" y="4057020"/>
            <a:ext cx="6651584" cy="876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524250" cy="33240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38387"/>
            <a:ext cx="3524250" cy="33240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38387"/>
            <a:ext cx="3524250" cy="3324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52787"/>
            <a:ext cx="30803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Specialized AI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24287"/>
            <a:ext cx="29337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Moving beyond generic ChatGPT prompts to targeted model pipelines (Vision, Document RAG, Code) for precise administrative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9150" y="3252787"/>
            <a:ext cx="30803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Deterministic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150" y="3824287"/>
            <a:ext cx="29337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Mastering prompt engineering, tokens, and local SLMs to force factual precision and eliminate "hallucinations" in official drafts.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1525" y="3252787"/>
            <a:ext cx="30803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Governance &amp;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824287"/>
            <a:ext cx="29337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Operating securely within the DPDP Act 2023 and IT Rules 2026 mandates to protect sensitive citizen data and manage deepfakes.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90812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690812"/>
            <a:ext cx="3429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Executive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11049000" cy="4838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1628775"/>
            <a:ext cx="11029950" cy="4819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307911"/>
              </p:ext>
            </p:extLst>
          </p:nvPr>
        </p:nvGraphicFramePr>
        <p:xfrm>
          <a:off x="571500" y="1407955"/>
          <a:ext cx="11029948" cy="481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8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algn="l"/>
                      <a:r>
                        <a:rPr sz="14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Leading Tools (2026)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Administrative Use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Effectiveness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Writing &amp; Ideas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Drafting circulars, D.O. letters, policy drafts, regional translation.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High: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Excels at zero-draft generation and matching official tone.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Research &amp; Chatbots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Real-time policy research, parsing 100-page reports, live web querying.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High: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Best for citing verifiable sources and extracting deadlines.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Image &amp; Design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Evacuation maps, disaster concept art, public health campaign posters.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Medium-High: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Phenomenal visuals, but requires manual text overlay checks.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Video Generation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Citizen training shorts, operational simulations, awareness reels.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Emerging: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Replacing 3-day production cycles with 90-second rendering.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Automation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Inter-departmental workflow triggers, automated dashboard refreshes.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High: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Connects datasets seamlessly without heavy custom coding.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190750"/>
            <a:ext cx="167937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60401" y="2190750"/>
            <a:ext cx="229448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54884" y="2190750"/>
            <a:ext cx="348882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3713" y="2190750"/>
            <a:ext cx="356726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052762"/>
            <a:ext cx="1679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0401" y="3052762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54884" y="3052762"/>
            <a:ext cx="3488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3713" y="3052762"/>
            <a:ext cx="3567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900487"/>
            <a:ext cx="1679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60401" y="3900487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54884" y="3900487"/>
            <a:ext cx="3488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3713" y="3900487"/>
            <a:ext cx="3567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748212"/>
            <a:ext cx="1679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60401" y="4748212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54884" y="4748212"/>
            <a:ext cx="3488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3713" y="4748212"/>
            <a:ext cx="3567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5595937"/>
            <a:ext cx="1679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60401" y="5595937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54884" y="5595937"/>
            <a:ext cx="3488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3713" y="5595937"/>
            <a:ext cx="3567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588" y="2455211"/>
            <a:ext cx="76200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6188" y="2452163"/>
            <a:ext cx="64770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588" y="2752724"/>
            <a:ext cx="752475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0401" y="3279838"/>
            <a:ext cx="838200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1938" y="3279838"/>
            <a:ext cx="638175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6588" y="3610641"/>
            <a:ext cx="85725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6588" y="4105941"/>
            <a:ext cx="895350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3804" y="4115085"/>
            <a:ext cx="752475" cy="2476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6588" y="4417218"/>
            <a:ext cx="1000125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36588" y="4886325"/>
            <a:ext cx="1047750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5254" y="4904803"/>
            <a:ext cx="581025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6588" y="5238750"/>
            <a:ext cx="647700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6588" y="5700712"/>
            <a:ext cx="723900" cy="2476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74788" y="5700712"/>
            <a:ext cx="590550" cy="2476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6588" y="6065804"/>
            <a:ext cx="666750" cy="2476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Different AI for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Different Jobs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1336"/>
            <a:ext cx="5334000" cy="42383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81336"/>
            <a:ext cx="5334000" cy="4238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62336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Large Language Models (LLM)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62386"/>
            <a:ext cx="46482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 Medium"/>
              </a:rPr>
              <a:t>GPT-4o, Claude 3.5, Gemini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262336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Small Language Models (SLM)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662386"/>
            <a:ext cx="46482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 Medium"/>
              </a:rPr>
              <a:t>Llama 3.2 (3B), Gemma 2, Phi-3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049041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Scale: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70B to 1 Trillion+ parameters. Deepest reasoning capability.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730972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Compute &amp; Privacy: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Requires Cloud API calls.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Data leaves the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412902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Context Window: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Massive. Up to 2,000,000 tokens (Gemini).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5094833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Restriction: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Unsuitable for unencrypted classified data or PII under DPDP 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3049041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Scale: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1B to 8B parameters. Highly optimized and quantized.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3730972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Compute &amp; Privacy: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Runs locally on standard laptops/edge servers.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Air-Gapped.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4412902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Security: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Zero risk of exfiltration. 100% data sovereignty.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100" y="5094833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Use Case: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Processing sensitive land disputes, FIRs, or local personnel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Architectural Selection: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LLM vs. SLM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68091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0022"/>
            <a:ext cx="857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1952"/>
            <a:ext cx="857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13883"/>
            <a:ext cx="857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68091"/>
            <a:ext cx="857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50022"/>
            <a:ext cx="8572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1952"/>
            <a:ext cx="857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113883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619250"/>
            <a:ext cx="520065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27895"/>
            <a:ext cx="5181600" cy="809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90700"/>
            <a:ext cx="5181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AI models do not read full words. They read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"tokens"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(subword chunks averaging ~0.75 words in English). Regional scripts like Hindi or Marathi require 2-3x more tokens per 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75645"/>
            <a:ext cx="5440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Plus Jakarta Sans"/>
              </a:rPr>
              <a:t>The Context Window Limit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1628775"/>
            <a:ext cx="5181600" cy="398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Model Memory Mechanics: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Tokens &amp;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7575A0-1F0B-0080-5578-94F9E1754833}"/>
              </a:ext>
            </a:extLst>
          </p:cNvPr>
          <p:cNvGrpSpPr/>
          <p:nvPr/>
        </p:nvGrpSpPr>
        <p:grpSpPr>
          <a:xfrm>
            <a:off x="571500" y="4258620"/>
            <a:ext cx="5181600" cy="2024010"/>
            <a:chOff x="571500" y="4258620"/>
            <a:chExt cx="5181600" cy="202401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9809A4C-A5EA-5817-EE65-E2E8E35A1360}"/>
                </a:ext>
              </a:extLst>
            </p:cNvPr>
            <p:cNvGrpSpPr/>
            <p:nvPr/>
          </p:nvGrpSpPr>
          <p:grpSpPr>
            <a:xfrm>
              <a:off x="571500" y="4258620"/>
              <a:ext cx="5181600" cy="548580"/>
              <a:chOff x="571500" y="4258620"/>
              <a:chExt cx="5181600" cy="54858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838200" y="4258620"/>
                <a:ext cx="4914900" cy="5485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Definition: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The maximum active memory capacity for a single session (ranging from 8K to 2M tokens).</a:t>
                </a:r>
              </a:p>
            </p:txBody>
          </p:sp>
          <p:pic>
            <p:nvPicPr>
              <p:cNvPr id="13" name="Picture 12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500" y="4347120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45C80A-9417-03C3-898F-AE404FF803C2}"/>
                </a:ext>
              </a:extLst>
            </p:cNvPr>
            <p:cNvGrpSpPr/>
            <p:nvPr/>
          </p:nvGrpSpPr>
          <p:grpSpPr>
            <a:xfrm>
              <a:off x="571500" y="5000904"/>
              <a:ext cx="5181600" cy="539443"/>
              <a:chOff x="571500" y="4940551"/>
              <a:chExt cx="5181600" cy="53944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838200" y="4940551"/>
                <a:ext cx="4914900" cy="539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160"/>
                  </a:lnSpc>
                </a:pPr>
                <a:r>
                  <a:rPr lang="en-US" sz="1350" b="1" dirty="0">
                    <a:solidFill>
                      <a:srgbClr val="475569"/>
                    </a:solidFill>
                    <a:latin typeface="Plus Jakarta Sans"/>
                  </a:rPr>
                  <a:t>"Lost in the Middle":</a:t>
                </a:r>
                <a:r>
                  <a:rPr lang="en-US" sz="1350" dirty="0">
                    <a:solidFill>
                      <a:srgbClr val="475569"/>
                    </a:solidFill>
                    <a:latin typeface="Plus Jakarta Sans"/>
                  </a:rPr>
                  <a:t> If you paste a 200-page PDF into a standard chat, the model forgets the beginning to make room for the end.</a:t>
                </a:r>
              </a:p>
            </p:txBody>
          </p:sp>
          <p:pic>
            <p:nvPicPr>
              <p:cNvPr id="14" name="Picture 13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500" y="5029051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3BD171A-43F9-B62E-5CAD-6A34856CFE88}"/>
                </a:ext>
              </a:extLst>
            </p:cNvPr>
            <p:cNvGrpSpPr/>
            <p:nvPr/>
          </p:nvGrpSpPr>
          <p:grpSpPr>
            <a:xfrm>
              <a:off x="571500" y="5734050"/>
              <a:ext cx="5181600" cy="548580"/>
              <a:chOff x="571500" y="5908346"/>
              <a:chExt cx="5181600" cy="54858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838200" y="5908346"/>
                <a:ext cx="4914900" cy="5485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Solution: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Use Document RAG tools (like </a:t>
                </a:r>
                <a:r>
                  <a:rPr sz="1350" b="0" i="0" u="none" dirty="0" err="1">
                    <a:solidFill>
                      <a:srgbClr val="475569"/>
                    </a:solidFill>
                    <a:latin typeface="Plus Jakarta Sans"/>
                  </a:rPr>
                  <a:t>NotebookLM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) for massive files, not raw chat windows.</a:t>
                </a:r>
              </a:p>
            </p:txBody>
          </p:sp>
          <p:pic>
            <p:nvPicPr>
              <p:cNvPr id="15" name="Picture 14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500" y="5985271"/>
                <a:ext cx="85725" cy="14287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271075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71075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17716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1771650"/>
            <a:ext cx="9525" cy="948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80226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380226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286315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2863155"/>
            <a:ext cx="9525" cy="948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61947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461947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95466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3954660"/>
            <a:ext cx="9525" cy="6743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571098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" y="571098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477187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10975" y="4771876"/>
            <a:ext cx="9525" cy="948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1500" y="6802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1500" y="6802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" y="586338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10975" y="5863381"/>
            <a:ext cx="9525" cy="948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B7CC90-49D7-D524-E6B3-0A09F5D44498}"/>
              </a:ext>
            </a:extLst>
          </p:cNvPr>
          <p:cNvGrpSpPr/>
          <p:nvPr/>
        </p:nvGrpSpPr>
        <p:grpSpPr>
          <a:xfrm>
            <a:off x="561975" y="1408882"/>
            <a:ext cx="11049000" cy="5040361"/>
            <a:chOff x="571500" y="1771650"/>
            <a:chExt cx="11049000" cy="5040361"/>
          </a:xfrm>
        </p:grpSpPr>
        <p:sp>
          <p:nvSpPr>
            <p:cNvPr id="3" name="Rounded Rectangle 2"/>
            <p:cNvSpPr/>
            <p:nvPr/>
          </p:nvSpPr>
          <p:spPr>
            <a:xfrm>
              <a:off x="571500" y="1771650"/>
              <a:ext cx="11049000" cy="948630"/>
            </a:xfrm>
            <a:prstGeom prst="roundRect">
              <a:avLst>
                <a:gd name="adj" fmla="val 1004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71500" y="2863155"/>
              <a:ext cx="11049000" cy="948630"/>
            </a:xfrm>
            <a:prstGeom prst="roundRect">
              <a:avLst>
                <a:gd name="adj" fmla="val 1004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71500" y="3954660"/>
              <a:ext cx="11049000" cy="674340"/>
            </a:xfrm>
            <a:prstGeom prst="roundRect">
              <a:avLst>
                <a:gd name="adj" fmla="val 14124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71500" y="4771876"/>
              <a:ext cx="11049000" cy="948630"/>
            </a:xfrm>
            <a:prstGeom prst="roundRect">
              <a:avLst>
                <a:gd name="adj" fmla="val 1004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71500" y="5863381"/>
              <a:ext cx="11049000" cy="948630"/>
            </a:xfrm>
            <a:prstGeom prst="roundRect">
              <a:avLst>
                <a:gd name="adj" fmla="val 1004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1500" y="1771650"/>
              <a:ext cx="47625" cy="94863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90625" y="1971675"/>
              <a:ext cx="10182225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1. Zero-Shot: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 Direct, unstructured commands without examples. </a:t>
              </a:r>
              <a:r>
                <a:rPr sz="1350" b="0" i="1" u="none">
                  <a:solidFill>
                    <a:srgbClr val="475569"/>
                  </a:solidFill>
                  <a:latin typeface="Plus Jakarta Sans"/>
                </a:rPr>
                <a:t>("Write a notice about rain.")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 High risk of generic, unusable output.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1500" y="2863155"/>
              <a:ext cx="47625" cy="94863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47775" y="3063180"/>
              <a:ext cx="10125075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2. Role Prompting: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 Assigning a specific professional persona forces the model to adopt the correct vocabulary. </a:t>
              </a:r>
              <a:r>
                <a:rPr sz="1350" b="0" i="1" u="none">
                  <a:solidFill>
                    <a:srgbClr val="475569"/>
                  </a:solidFill>
                  <a:latin typeface="Plus Jakarta Sans"/>
                </a:rPr>
                <a:t>("Act as a Senior IAS Officer...")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71500" y="3954660"/>
              <a:ext cx="47625" cy="67434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47775" y="4154685"/>
              <a:ext cx="8724900" cy="2742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3. Few-Shot: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 Providing 1-3 structural examples of previous official circulars to map exact desired formatting.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71500" y="4771876"/>
              <a:ext cx="47625" cy="94863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276350" y="4971901"/>
              <a:ext cx="10096500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4. Constraints: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 Setting explicit boundaries. Specify exact word counts, tonal requirements, and negative constraints </a:t>
              </a:r>
              <a:r>
                <a:rPr sz="1350" b="0" i="1" u="none">
                  <a:solidFill>
                    <a:srgbClr val="475569"/>
                  </a:solidFill>
                  <a:latin typeface="Plus Jakarta Sans"/>
                </a:rPr>
                <a:t>(e.g., "Exclude meteorological jargon")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.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71500" y="5863381"/>
              <a:ext cx="47625" cy="94863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33500" y="6063406"/>
              <a:ext cx="10039350" cy="5485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5. Chain-of-Thought (CoT):</a:t>
              </a:r>
              <a:r>
                <a:rPr sz="1350" b="0" i="0" u="none">
                  <a:solidFill>
                    <a:srgbClr val="475569"/>
                  </a:solidFill>
                  <a:latin typeface="Plus Jakarta Sans"/>
                </a:rPr>
                <a:t> Forcing the model into step-by-step logical reasoning before generating the final output. Crucial for data analysis.</a:t>
              </a:r>
            </a:p>
          </p:txBody>
        </p:sp>
        <p:pic>
          <p:nvPicPr>
            <p:cNvPr id="38" name="Picture 37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2122140"/>
              <a:ext cx="142875" cy="247650"/>
            </a:xfrm>
            <a:prstGeom prst="rect">
              <a:avLst/>
            </a:prstGeom>
          </p:spPr>
        </p:pic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250" y="3213645"/>
              <a:ext cx="200025" cy="247650"/>
            </a:xfrm>
            <a:prstGeom prst="rect">
              <a:avLst/>
            </a:prstGeom>
          </p:spPr>
        </p:pic>
        <p:pic>
          <p:nvPicPr>
            <p:cNvPr id="40" name="Picture 39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7250" y="4167931"/>
              <a:ext cx="200025" cy="247650"/>
            </a:xfrm>
            <a:prstGeom prst="rect">
              <a:avLst/>
            </a:prstGeom>
          </p:spPr>
        </p:pic>
        <p:pic>
          <p:nvPicPr>
            <p:cNvPr id="41" name="Picture 40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7250" y="5122366"/>
              <a:ext cx="228600" cy="247650"/>
            </a:xfrm>
            <a:prstGeom prst="rect">
              <a:avLst/>
            </a:prstGeom>
          </p:spPr>
        </p:pic>
        <p:pic>
          <p:nvPicPr>
            <p:cNvPr id="42" name="Picture 41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7250" y="6213871"/>
              <a:ext cx="285750" cy="247650"/>
            </a:xfrm>
            <a:prstGeom prst="rect">
              <a:avLst/>
            </a:prstGeom>
          </p:spPr>
        </p:pic>
      </p:grpSp>
      <p:sp>
        <p:nvSpPr>
          <p:cNvPr id="43" name="TextBox 4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Prompt Architecture: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The 5 Methodologies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5756523" cy="496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023" y="1619250"/>
            <a:ext cx="4911476" cy="496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28875"/>
            <a:ext cx="5070723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923" y="2833687"/>
            <a:ext cx="4225676" cy="1447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923" y="4519612"/>
            <a:ext cx="4225676" cy="1247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00250"/>
            <a:ext cx="532425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The Enterprise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1923" y="2433637"/>
            <a:ext cx="44369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Execution Quality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Blueprint for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Administrative 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619250"/>
            <a:ext cx="519112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19250"/>
            <a:ext cx="54506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Enterprise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90750"/>
            <a:ext cx="51911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Moving beyond basic consumer chat (like standard ChatGPT) to a secure, configurable workspace designed for persistent administrative workflows.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619250"/>
            <a:ext cx="5191125" cy="400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Deep Dive: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Google AI Studio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AD9787-8D0F-2329-941D-CB225E4F0BAF}"/>
              </a:ext>
            </a:extLst>
          </p:cNvPr>
          <p:cNvGrpSpPr/>
          <p:nvPr/>
        </p:nvGrpSpPr>
        <p:grpSpPr>
          <a:xfrm>
            <a:off x="571499" y="3013620"/>
            <a:ext cx="5191125" cy="3169657"/>
            <a:chOff x="571499" y="3061725"/>
            <a:chExt cx="5191125" cy="316965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05E6F87-F226-1E36-6E35-6B51CCE347A0}"/>
                </a:ext>
              </a:extLst>
            </p:cNvPr>
            <p:cNvGrpSpPr/>
            <p:nvPr/>
          </p:nvGrpSpPr>
          <p:grpSpPr>
            <a:xfrm>
              <a:off x="571499" y="3061725"/>
              <a:ext cx="5191125" cy="548580"/>
              <a:chOff x="571499" y="3061725"/>
              <a:chExt cx="5191125" cy="54858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838199" y="3061725"/>
                <a:ext cx="4924425" cy="5485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System Instructions: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Embed persistent personas and operational rules that govern </a:t>
                </a:r>
                <a:r>
                  <a:rPr sz="1350" b="0" i="1" u="none" dirty="0">
                    <a:solidFill>
                      <a:srgbClr val="475569"/>
                    </a:solidFill>
                    <a:latin typeface="Plus Jakarta Sans"/>
                  </a:rPr>
                  <a:t>all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outputs across sessions.</a:t>
                </a:r>
              </a:p>
            </p:txBody>
          </p:sp>
          <p:pic>
            <p:nvPicPr>
              <p:cNvPr id="13" name="Picture 12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499" y="3161800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5AC0EF-DEF6-2576-80DE-BD1EE7ED2B33}"/>
                </a:ext>
              </a:extLst>
            </p:cNvPr>
            <p:cNvGrpSpPr/>
            <p:nvPr/>
          </p:nvGrpSpPr>
          <p:grpSpPr>
            <a:xfrm>
              <a:off x="571499" y="3847033"/>
              <a:ext cx="5191125" cy="822870"/>
              <a:chOff x="571499" y="3766806"/>
              <a:chExt cx="5191125" cy="82287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838199" y="3766806"/>
                <a:ext cx="4924425" cy="8228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Model Selection: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Switch seamlessly between </a:t>
                </a:r>
                <a:r>
                  <a:rPr sz="1350" b="0" i="1" u="none" dirty="0">
                    <a:solidFill>
                      <a:srgbClr val="475569"/>
                    </a:solidFill>
                    <a:latin typeface="Plus Jakarta Sans"/>
                  </a:rPr>
                  <a:t>Gemini 1.5 Pro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(for deep reasoning/long files) and </a:t>
                </a:r>
                <a:r>
                  <a:rPr sz="1350" b="0" i="1" u="none" dirty="0">
                    <a:solidFill>
                      <a:srgbClr val="475569"/>
                    </a:solidFill>
                    <a:latin typeface="Plus Jakarta Sans"/>
                  </a:rPr>
                  <a:t>Gemini 1.5 Flash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(for high-speed volume tasks).</a:t>
                </a:r>
              </a:p>
            </p:txBody>
          </p:sp>
          <p:pic>
            <p:nvPicPr>
              <p:cNvPr id="14" name="Picture 13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499" y="3843731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46D76AE-D682-6CEA-7A5C-6309998DFFF6}"/>
                </a:ext>
              </a:extLst>
            </p:cNvPr>
            <p:cNvGrpSpPr/>
            <p:nvPr/>
          </p:nvGrpSpPr>
          <p:grpSpPr>
            <a:xfrm>
              <a:off x="571499" y="4906631"/>
              <a:ext cx="5191125" cy="539443"/>
              <a:chOff x="571499" y="4699876"/>
              <a:chExt cx="5191125" cy="53944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838199" y="4699876"/>
                <a:ext cx="4924425" cy="539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160"/>
                  </a:lnSpc>
                </a:pPr>
                <a:r>
                  <a:rPr lang="en-US" sz="1350" b="1" dirty="0">
                    <a:solidFill>
                      <a:srgbClr val="475569"/>
                    </a:solidFill>
                    <a:latin typeface="Plus Jakarta Sans"/>
                  </a:rPr>
                  <a:t>Hyperparameter Tuning:</a:t>
                </a:r>
                <a:r>
                  <a:rPr lang="en-US" sz="1350" dirty="0">
                    <a:solidFill>
                      <a:srgbClr val="475569"/>
                    </a:solidFill>
                    <a:latin typeface="Plus Jakarta Sans"/>
                  </a:rPr>
                  <a:t> Manually adjust 'Temperature' to force factual, deterministic output (T=0.1) for governance tasks.</a:t>
                </a:r>
              </a:p>
            </p:txBody>
          </p:sp>
          <p:pic>
            <p:nvPicPr>
              <p:cNvPr id="15" name="Picture 14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499" y="4799951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7D678DA-C695-7568-DC61-D606C7E153B4}"/>
                </a:ext>
              </a:extLst>
            </p:cNvPr>
            <p:cNvGrpSpPr/>
            <p:nvPr/>
          </p:nvGrpSpPr>
          <p:grpSpPr>
            <a:xfrm>
              <a:off x="571499" y="5682802"/>
              <a:ext cx="5191125" cy="548580"/>
              <a:chOff x="571499" y="5682802"/>
              <a:chExt cx="5191125" cy="54858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838199" y="5682802"/>
                <a:ext cx="4924425" cy="5485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Safety Thresholds: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Fine-grained control to adjust block thresholds for strict adherence to public sector ethics.</a:t>
                </a:r>
              </a:p>
            </p:txBody>
          </p:sp>
          <p:pic>
            <p:nvPicPr>
              <p:cNvPr id="16" name="Picture 15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499" y="5756172"/>
                <a:ext cx="85725" cy="14287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562225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How to build a custom "Executive Assistant" profile in Google AI Studio.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4196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346" y="4724400"/>
            <a:ext cx="382844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lus Jakarta Sans"/>
              </a:rPr>
              <a:t>Step 1: The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5095875"/>
            <a:ext cx="336039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Navigate to Google AI Studio. Create a New Prompt and open the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System Instructions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panel on the left sidebar.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1701" y="4676775"/>
            <a:ext cx="382844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lus Jakarta Sans"/>
              </a:rPr>
              <a:t>Step 2: Base Rules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855" y="5038725"/>
            <a:ext cx="3646140" cy="1352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3057" y="4724400"/>
            <a:ext cx="382844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lus Jakarta Sans"/>
              </a:rPr>
              <a:t>Step 3: Lock &amp; 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7085" y="5095875"/>
            <a:ext cx="336039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Set Temperature to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0.15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for strict, deterministic output. Test with a sample file, then hit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Save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as </a:t>
            </a:r>
            <a:r>
              <a:rPr sz="1200" b="0" i="1" u="none">
                <a:solidFill>
                  <a:srgbClr val="475569"/>
                </a:solidFill>
                <a:latin typeface="Plus Jakarta Sans"/>
              </a:rPr>
              <a:t>"DM Executive Desk"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Lab: Building Your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Persistent Persona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80270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81625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82981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4535"/>
            <a:ext cx="4833937" cy="134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88060"/>
            <a:ext cx="4833937" cy="1343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507563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Instant Media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Generation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0"/>
            <a:ext cx="5976937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941165"/>
            <a:ext cx="483393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Transforming traditional media procurement from days into seconds using tools like Midjourney, Canva AI, and Google Veo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145035"/>
            <a:ext cx="4635579" cy="184666"/>
          </a:xfrm>
          <a:prstGeom prst="rect">
            <a:avLst/>
          </a:prstGeom>
          <a:noFill/>
        </p:spPr>
        <p:txBody>
          <a:bodyPr wrap="square" lIns="149423" tIns="0" rIns="0" bIns="0" anchor="t">
            <a:spAutoFit/>
          </a:bodyPr>
          <a:lstStyle/>
          <a:p>
            <a:pPr algn="l"/>
            <a:r>
              <a:rPr lang="en-IN" sz="1200" b="1" dirty="0">
                <a:solidFill>
                  <a:srgbClr val="B45309"/>
                </a:solidFill>
                <a:latin typeface="Plus Jakarta Sans"/>
              </a:rPr>
              <a:t>    </a:t>
            </a:r>
            <a:r>
              <a:rPr sz="1200" b="1" i="0" u="none" dirty="0">
                <a:solidFill>
                  <a:srgbClr val="B45309"/>
                </a:solidFill>
                <a:latin typeface="Plus Jakarta Sans"/>
              </a:rPr>
              <a:t>Concept Art (12 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421260"/>
            <a:ext cx="44148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monospace"/>
              </a:rPr>
              <a:t>"A photojournalistic, wide-angle shot of a district flood relief staging area. Inflatable boats, uniformed NDRF personnel coordinating..."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678560"/>
            <a:ext cx="4635579" cy="184666"/>
          </a:xfrm>
          <a:prstGeom prst="rect">
            <a:avLst/>
          </a:prstGeom>
          <a:noFill/>
        </p:spPr>
        <p:txBody>
          <a:bodyPr wrap="square" lIns="168473" tIns="0" rIns="0" bIns="0" anchor="t">
            <a:spAutoFit/>
          </a:bodyPr>
          <a:lstStyle/>
          <a:p>
            <a:pPr algn="l"/>
            <a:r>
              <a:rPr lang="en-IN" sz="1200" b="1" i="0" u="none" dirty="0">
                <a:solidFill>
                  <a:srgbClr val="6D28D9"/>
                </a:solidFill>
                <a:latin typeface="Plus Jakarta Sans"/>
              </a:rPr>
              <a:t>    </a:t>
            </a:r>
            <a:r>
              <a:rPr sz="1200" b="1" i="0" u="none" dirty="0">
                <a:solidFill>
                  <a:srgbClr val="6D28D9"/>
                </a:solidFill>
                <a:latin typeface="Plus Jakarta Sans"/>
              </a:rPr>
              <a:t>Video Simulation (90 Seconds)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954785"/>
            <a:ext cx="44148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monospace"/>
              </a:rPr>
              <a:t>"10-second cinematic tracking shot showing emergency traffic diversion procedures during bridge repair, daylight, realistic."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173610"/>
            <a:ext cx="149423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707135"/>
            <a:ext cx="16847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000250"/>
            <a:ext cx="519112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98577"/>
            <a:ext cx="5191125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70077"/>
            <a:ext cx="5191125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41577"/>
            <a:ext cx="5191125" cy="428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330797"/>
            <a:ext cx="5450681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Retrieval-Augmented Generation (NotebookLM)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188047"/>
            <a:ext cx="51911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Extracting intelligence from massive policy documents with explicit, verifiable page citations to eliminate hallucination risks.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000250"/>
            <a:ext cx="5191125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Zero-Hallucination Parsing via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8496"/>
            <a:ext cx="5334000" cy="44440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34766"/>
            <a:ext cx="5334000" cy="1068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49946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AI models are probability engines predicting the next likely word. They can sound completely confident while being entirely factually wrong.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430041"/>
            <a:ext cx="4743450" cy="47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4584352"/>
            <a:ext cx="50673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Fact Checkpoint: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Never publish an AI-drafted budget figure, legal section, or citizen name without verifying against physical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540573"/>
            <a:ext cx="5067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Human-in-the-Loop: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AI generates drafts; officers retain absolute legal accountability.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Mitigating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Hallucination</a:t>
            </a:r>
            <a:r>
              <a:rPr sz="3150" b="1" i="0" u="none">
                <a:solidFill>
                  <a:srgbClr val="0F172A"/>
                </a:solidFill>
                <a:latin typeface="Plus Jakarta Sans"/>
              </a:rPr>
              <a:t>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03402"/>
            <a:ext cx="857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59623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6512"/>
            <a:ext cx="11049000" cy="28479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2586037"/>
            <a:ext cx="11029950" cy="2828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586037"/>
          <a:ext cx="11029949" cy="2828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7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Sensitivity Tier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Permissible Environment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Example Data 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TIER 1: PUBLIC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Free / Public Consumer AI (ChatGPT)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Gazetted policy, public circulars, press releases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TIER 2: INTERNAL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Enterprise AI (No-Data-Training Clause)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Memos, draft schemes, internal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TIER 3: CONFIDENTIAL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On-Premise / Local SLM Models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Aadhaar, PII, FIRs, tender evaluations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TIER 4: CLASSIFIED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Air-Gapped Systems (Zero Cloud Access)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Cabinet files, national security materials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3148012"/>
            <a:ext cx="245343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34456" y="3148012"/>
            <a:ext cx="402907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63531" y="3148012"/>
            <a:ext cx="454744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724275"/>
            <a:ext cx="2453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34456" y="3724275"/>
            <a:ext cx="4029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3531" y="3724275"/>
            <a:ext cx="45474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286250"/>
            <a:ext cx="2453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34456" y="4286250"/>
            <a:ext cx="4029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63531" y="4286250"/>
            <a:ext cx="45474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848225"/>
            <a:ext cx="2453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34456" y="4848225"/>
            <a:ext cx="4029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63531" y="4848225"/>
            <a:ext cx="45474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Data Privacy &amp;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Compliance (DPDP Act 2023)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715541"/>
            <a:ext cx="52006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15541"/>
            <a:ext cx="5440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lus Jakarta Sans"/>
              </a:rPr>
              <a:t>5-Step Verification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87041"/>
            <a:ext cx="5181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The 2026 IT Rules Amendment mandates persistent SGI (Synthetically Generated Information) labeling and strict 2-hour takedown windows.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725066"/>
            <a:ext cx="5181600" cy="398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Navigating Synthetic Media </a:t>
            </a:r>
            <a:r>
              <a:rPr sz="3150" b="1" i="0" u="none">
                <a:solidFill>
                  <a:srgbClr val="2563EB"/>
                </a:solidFill>
                <a:latin typeface="Plus Jakarta Sans"/>
              </a:rPr>
              <a:t>(IT Rules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D76A0D-5E02-A5F0-35C1-332476AA539E}"/>
              </a:ext>
            </a:extLst>
          </p:cNvPr>
          <p:cNvGrpSpPr/>
          <p:nvPr/>
        </p:nvGrpSpPr>
        <p:grpSpPr>
          <a:xfrm>
            <a:off x="666750" y="3300297"/>
            <a:ext cx="5181600" cy="2785597"/>
            <a:chOff x="571500" y="3366362"/>
            <a:chExt cx="5181600" cy="278559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81543A7-C186-D063-3265-F407518512C1}"/>
                </a:ext>
              </a:extLst>
            </p:cNvPr>
            <p:cNvGrpSpPr/>
            <p:nvPr/>
          </p:nvGrpSpPr>
          <p:grpSpPr>
            <a:xfrm>
              <a:off x="571500" y="3366362"/>
              <a:ext cx="5181600" cy="257315"/>
              <a:chOff x="571500" y="3366362"/>
              <a:chExt cx="5181600" cy="257315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838200" y="3366362"/>
                <a:ext cx="4914900" cy="2573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160"/>
                  </a:lnSpc>
                </a:pPr>
                <a:r>
                  <a:rPr lang="en-US" sz="1350" b="1" dirty="0">
                    <a:solidFill>
                      <a:srgbClr val="475569"/>
                    </a:solidFill>
                    <a:latin typeface="Plus Jakarta Sans"/>
                  </a:rPr>
                  <a:t>1. PAUSE:</a:t>
                </a:r>
                <a:r>
                  <a:rPr lang="en-US" sz="1350" dirty="0">
                    <a:solidFill>
                      <a:srgbClr val="475569"/>
                    </a:solidFill>
                    <a:latin typeface="Plus Jakarta Sans"/>
                  </a:rPr>
                  <a:t> Halt immediate forward impulses; check for urgency traps.</a:t>
                </a:r>
              </a:p>
            </p:txBody>
          </p:sp>
          <p:pic>
            <p:nvPicPr>
              <p:cNvPr id="14" name="Picture 13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" y="3443287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7AF70F6-62A6-B9CD-C67D-B27445A1C8EA}"/>
                </a:ext>
              </a:extLst>
            </p:cNvPr>
            <p:cNvGrpSpPr/>
            <p:nvPr/>
          </p:nvGrpSpPr>
          <p:grpSpPr>
            <a:xfrm>
              <a:off x="571500" y="3989945"/>
              <a:ext cx="5181600" cy="274290"/>
              <a:chOff x="571500" y="4036717"/>
              <a:chExt cx="5181600" cy="27429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838200" y="4036717"/>
                <a:ext cx="4914900" cy="2742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2. SOURCE: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Trace origin to verified official channels.</a:t>
                </a:r>
              </a:p>
            </p:txBody>
          </p:sp>
          <p:pic>
            <p:nvPicPr>
              <p:cNvPr id="15" name="Picture 14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" y="4125217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E1B9892-2DE4-C169-8738-FAEA15B3C833}"/>
                </a:ext>
              </a:extLst>
            </p:cNvPr>
            <p:cNvGrpSpPr/>
            <p:nvPr/>
          </p:nvGrpSpPr>
          <p:grpSpPr>
            <a:xfrm>
              <a:off x="571500" y="4630503"/>
              <a:ext cx="5181600" cy="257315"/>
              <a:chOff x="571500" y="4513808"/>
              <a:chExt cx="5181600" cy="257315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838200" y="4513808"/>
                <a:ext cx="4914900" cy="2573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160"/>
                  </a:lnSpc>
                </a:pPr>
                <a:r>
                  <a:rPr lang="en-US" sz="1350" b="1" dirty="0">
                    <a:solidFill>
                      <a:srgbClr val="475569"/>
                    </a:solidFill>
                    <a:latin typeface="Plus Jakarta Sans"/>
                  </a:rPr>
                  <a:t>3. INSPECT:</a:t>
                </a:r>
                <a:r>
                  <a:rPr lang="en-US" sz="1350" dirty="0">
                    <a:solidFill>
                      <a:srgbClr val="475569"/>
                    </a:solidFill>
                    <a:latin typeface="Plus Jakarta Sans"/>
                  </a:rPr>
                  <a:t> Look for digital artifacts (lip sync errors, unnatural audio).</a:t>
                </a:r>
              </a:p>
            </p:txBody>
          </p:sp>
          <p:pic>
            <p:nvPicPr>
              <p:cNvPr id="16" name="Picture 15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" y="4606407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A001D1C-BCB0-1E23-5C4C-CA6359C1FFA2}"/>
                </a:ext>
              </a:extLst>
            </p:cNvPr>
            <p:cNvGrpSpPr/>
            <p:nvPr/>
          </p:nvGrpSpPr>
          <p:grpSpPr>
            <a:xfrm>
              <a:off x="571500" y="5254086"/>
              <a:ext cx="5181600" cy="257315"/>
              <a:chOff x="571500" y="5195738"/>
              <a:chExt cx="5181600" cy="257315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838200" y="5195738"/>
                <a:ext cx="4914900" cy="2573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160"/>
                  </a:lnSpc>
                </a:pPr>
                <a:r>
                  <a:rPr lang="en-US" sz="1350" b="1" dirty="0">
                    <a:solidFill>
                      <a:srgbClr val="475569"/>
                    </a:solidFill>
                    <a:latin typeface="Plus Jakarta Sans"/>
                  </a:rPr>
                  <a:t>4. SEARCH:</a:t>
                </a:r>
                <a:r>
                  <a:rPr lang="en-US" sz="1350" dirty="0">
                    <a:solidFill>
                      <a:srgbClr val="475569"/>
                    </a:solidFill>
                    <a:latin typeface="Plus Jakarta Sans"/>
                  </a:rPr>
                  <a:t> Conduct reverse image/video metadata checks.</a:t>
                </a:r>
              </a:p>
            </p:txBody>
          </p:sp>
          <p:pic>
            <p:nvPicPr>
              <p:cNvPr id="17" name="Picture 16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" y="5261087"/>
                <a:ext cx="85725" cy="142875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66AE1B-B473-F2BA-727E-97D0101CC740}"/>
                </a:ext>
              </a:extLst>
            </p:cNvPr>
            <p:cNvGrpSpPr/>
            <p:nvPr/>
          </p:nvGrpSpPr>
          <p:grpSpPr>
            <a:xfrm>
              <a:off x="571500" y="5877669"/>
              <a:ext cx="5181600" cy="274290"/>
              <a:chOff x="571500" y="5877669"/>
              <a:chExt cx="5181600" cy="27429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838200" y="5877669"/>
                <a:ext cx="4914900" cy="2742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1350" b="1" i="0" u="none" dirty="0">
                    <a:solidFill>
                      <a:srgbClr val="475569"/>
                    </a:solidFill>
                    <a:latin typeface="Plus Jakarta Sans"/>
                  </a:rPr>
                  <a:t>5. VERIFY:</a:t>
                </a:r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 Confirm via direct offline/official communication.</a:t>
                </a:r>
              </a:p>
            </p:txBody>
          </p:sp>
          <p:pic>
            <p:nvPicPr>
              <p:cNvPr id="18" name="Picture 17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" y="5943019"/>
                <a:ext cx="85725" cy="14287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7425" y="2032694"/>
            <a:ext cx="7677150" cy="1697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sz="3300" b="1" i="0" u="none">
                <a:solidFill>
                  <a:srgbClr val="0F172A"/>
                </a:solidFill>
                <a:latin typeface="Plus Jakarta Sans"/>
              </a:rPr>
              <a:t>AI will not replace officers.</a:t>
            </a:r>
            <a:r>
              <a:t>
</a:t>
            </a:r>
            <a:r>
              <a:rPr sz="3300" b="1" i="0" u="none">
                <a:solidFill>
                  <a:srgbClr val="0F172A"/>
                </a:solidFill>
                <a:latin typeface="Plus Jakarta Sans"/>
              </a:rPr>
              <a:t> Officers who understand AI will outperform officers who don't.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6625" y="4015531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2563EB"/>
                </a:solidFill>
                <a:latin typeface="Plus Jakarta Sans SemiBold"/>
              </a:rPr>
              <a:t>— THE FUTURE OF ADMINISTRATIVE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0675" y="1746944"/>
            <a:ext cx="475952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112"/>
              </a:lnSpc>
            </a:pPr>
            <a:r>
              <a:rPr sz="6750" b="1" i="0" u="none">
                <a:solidFill>
                  <a:srgbClr val="CBD5E1"/>
                </a:solidFill>
                <a:latin typeface="Georgia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25370" y="3143995"/>
            <a:ext cx="475952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112"/>
              </a:lnSpc>
            </a:pPr>
            <a:r>
              <a:rPr sz="6750" b="1" i="0" u="none">
                <a:solidFill>
                  <a:srgbClr val="CBD5E1"/>
                </a:solidFill>
                <a:latin typeface="Georgia"/>
              </a:rPr>
              <a:t>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4853731"/>
            <a:ext cx="1733550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4853731"/>
            <a:ext cx="2019300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975" y="4853731"/>
            <a:ext cx="2514600" cy="390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1187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Georgia</vt:lpstr>
      <vt:lpstr>monospace</vt:lpstr>
      <vt:lpstr>Plus Jakarta Sans</vt:lpstr>
      <vt:lpstr>Plus Jakarta Sans Medium</vt:lpstr>
      <vt:lpstr>Plus Jakarta Sans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 Sawant</cp:lastModifiedBy>
  <cp:revision>3</cp:revision>
  <dcterms:created xsi:type="dcterms:W3CDTF">2013-01-27T09:14:16Z</dcterms:created>
  <dcterms:modified xsi:type="dcterms:W3CDTF">2026-07-22T19:07:36Z</dcterms:modified>
  <cp:category/>
</cp:coreProperties>
</file>